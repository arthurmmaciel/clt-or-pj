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uma pergunta: quanto custa decidir errado entre CLT e PJ? A resposta não é só tributária; envolve proteção, risco e cláusulas.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o problema a uma decisão concreta: uma diferença pequena na proposta pode virar dezenas de milhares de reais por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o login fake, as abas que surgem, o contrato de exemplo e uma pergunta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pedindo validação: não queremos automatizar aconselhamento profissional, mas tornar a primeira decisão muito mais clara e encaminhar os casos certos.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F36A"/>
          </a:solidFill>
          <a:ln w="12700">
            <a:solidFill>
              <a:srgbClr val="D6F3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7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CLT ou PJ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7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Centelha 3 • Paraná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6F36A"/>
          </a:solidFill>
          <a:ln w="12700">
            <a:solidFill>
              <a:srgbClr val="D6F3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21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F36A"/>
                </a:solidFill>
              </a:rPr>
              <a:t>CLT ou PJ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6537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 decisão de carreira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que cabe no bolso —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 no contrato.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36576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8D0CD"/>
                </a:solidFill>
              </a:rPr>
              <a:t>Plataforma brasileira que combina cálculo financeiro, explicação conversacional e triagem inteligente de contratos CLT e PJ.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4754880"/>
            <a:ext cx="2148840" cy="310896"/>
          </a:xfrm>
          <a:prstGeom prst="roundRect">
            <a:avLst>
              <a:gd name="adj" fmla="val 35294"/>
            </a:avLst>
          </a:prstGeom>
          <a:solidFill>
            <a:srgbClr val="D6F36A"/>
          </a:solidFill>
          <a:ln w="12700">
            <a:solidFill>
              <a:srgbClr val="D6F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4823460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1F"/>
                </a:solidFill>
              </a:rPr>
              <a:t>PITCH • CENTELHA 3 PARANÁ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80960" y="841248"/>
            <a:ext cx="3749040" cy="5029200"/>
          </a:xfrm>
          <a:prstGeom prst="roundRect">
            <a:avLst>
              <a:gd name="adj" fmla="val 2927"/>
            </a:avLst>
          </a:prstGeom>
          <a:solidFill>
            <a:srgbClr val="22312E"/>
          </a:solidFill>
          <a:ln w="12700">
            <a:solidFill>
              <a:srgbClr val="3C4B4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01000" y="1143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Especialista CLT ou PJ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1000" y="14813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9E"/>
                </a:solidFill>
              </a:rPr>
              <a:t>IA demonstrativa • regras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01000" y="1975104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2219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7211F"/>
                </a:solidFill>
              </a:rPr>
              <a:t>“Esta proposta PJ realmente compensa meu pacote CLT?”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3182112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2F8F72"/>
          </a:solidFill>
          <a:ln w="12700">
            <a:solidFill>
              <a:srgbClr val="2F8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447288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Analisei valor anual, benefícios, impostos, reservas e risco contratual.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413308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6F36A"/>
                </a:solidFill>
              </a:rPr>
              <a:t>PJ recomendado: R$ 15,5 mil/mês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4919472"/>
            <a:ext cx="2057400" cy="310896"/>
          </a:xfrm>
          <a:prstGeom prst="roundRect">
            <a:avLst>
              <a:gd name="adj" fmla="val 35294"/>
            </a:avLst>
          </a:prstGeom>
          <a:solidFill>
            <a:srgbClr val="C46A4A"/>
          </a:solidFill>
          <a:ln w="12700">
            <a:solidFill>
              <a:srgbClr val="C46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4152" y="498805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Contrato: 3 alertas críticos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F8F72"/>
                </a:solidFill>
              </a:rPr>
              <a:t>PROBLEMA E OPORTUNIDADE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F"/>
                </a:solidFill>
              </a:rPr>
              <a:t>Hoje, a decisão é tomada com uma conta incompleta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3716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7716E"/>
                </a:solidFill>
              </a:rPr>
              <a:t>O trabalhador recebe dois números mensais. O custo real está espalhado em impostos, benefícios, risco e contrato.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0352" y="2240280"/>
            <a:ext cx="340156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25400" dist="50800" dir="2700000">
              <a:srgbClr val="17211F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487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F72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6384" y="29718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Comparação rasa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349300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Salário líquido versus nota fiscal, sem pacote anual.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256" y="2240280"/>
            <a:ext cx="340156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17211F">
                <a:alpha val="12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0288" y="2487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F72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0288" y="29718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Informação fragmentada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0288" y="349300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Planilhas, vídeos, contador e advogado em momentos diferentes.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240280"/>
            <a:ext cx="340156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17211F">
                <a:alpha val="1200000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94192" y="2487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F72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94192" y="29718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Risco invisível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94192" y="349300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Exclusividade, rescisão, responsabilidade e pejotização ficam fora da conta.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" y="5074920"/>
            <a:ext cx="11018520" cy="713232"/>
          </a:xfrm>
          <a:prstGeom prst="roundRect">
            <a:avLst>
              <a:gd name="adj" fmla="val 10256"/>
            </a:avLst>
          </a:prstGeom>
          <a:solidFill>
            <a:srgbClr val="17211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12664"/>
            <a:ext cx="10424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Consequência: pessoas aceitam menos valor, assumem risco excessivo ou recusam boas propostas por falta de clareza.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F8F72"/>
                </a:solidFill>
              </a:rPr>
              <a:t>SOLUÇÃO INOVADORA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F"/>
                </a:solidFill>
              </a:rPr>
              <a:t>Uma jornada única: calcular, conversar e analisar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52028928200000000" dist="104057856400000000" dir="583200000000000000000">
              <a:srgbClr val="17211F">
                <a:alpha val="12000000000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65376"/>
            <a:ext cx="475488" cy="475488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84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11F"/>
                </a:solidFill>
              </a:rPr>
              <a:t>Calcular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1821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Compara pacote anual CLT e PJ, direitos, impostos, custos e reserva.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72384" y="2834640"/>
            <a:ext cx="219456" cy="411480"/>
          </a:xfrm>
          <a:prstGeom prst="chevron">
            <a:avLst/>
          </a:prstGeom>
          <a:solidFill>
            <a:srgbClr val="D6F36A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74136" y="1572768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660767388140000000000" dist="1.32153477628e+21" dir="3.4992e+25">
              <a:srgbClr val="17211F">
                <a:alpha val="1.2e+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0168" y="1865376"/>
            <a:ext cx="475488" cy="475488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1984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0168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11F"/>
                </a:solidFill>
              </a:rPr>
              <a:t>Explicar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30168" y="31821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Agente conversacional traduz o resultado e responde dúvidas específicas.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2834640"/>
            <a:ext cx="219456" cy="411480"/>
          </a:xfrm>
          <a:prstGeom prst="chevron">
            <a:avLst/>
          </a:prstGeom>
          <a:solidFill>
            <a:srgbClr val="D6F36A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1572768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8.391745829378e+24" dist="1.6783491658756e+25" dir="2.09952e+30">
              <a:srgbClr val="17211F">
                <a:alpha val="1.2e+2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1865376"/>
            <a:ext cx="475488" cy="475488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1984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01384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11F"/>
                </a:solidFill>
              </a:rPr>
              <a:t>Analisar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01384" y="31821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PDF/DOCX é triado por cláusulas, riscos e pontos de negociação.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14816" y="2834640"/>
            <a:ext cx="219456" cy="411480"/>
          </a:xfrm>
          <a:prstGeom prst="chevron">
            <a:avLst/>
          </a:prstGeom>
          <a:solidFill>
            <a:srgbClr val="D6F36A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16568" y="1572768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  <a:effectLst>
            <a:outerShdw sx="100000" sy="100000" kx="0" ky="0" algn="bl" rotWithShape="0" blurRad="1.0657517203310059e+29" dist="2.1315034406620118e+29" dir="1.259712e+35">
              <a:srgbClr val="17211F">
                <a:alpha val="1.2e+3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72600" y="1865376"/>
            <a:ext cx="475488" cy="475488"/>
          </a:xfrm>
          <a:prstGeom prst="ellipse">
            <a:avLst/>
          </a:prstGeom>
          <a:solidFill>
            <a:srgbClr val="D6F36A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72600" y="1984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11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7260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Decidir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372600" y="31821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8D0CD"/>
                </a:solidFill>
              </a:rPr>
              <a:t>Usuário recebe recomendação justificável e próximos passos.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5212080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8F72"/>
                </a:solidFill>
              </a:rPr>
              <a:t>A inovação está na combinação: motor financeiro auditável + linguagem acessível + inteligência documental contextual.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F8F72"/>
                </a:solidFill>
              </a:rPr>
              <a:t>EVIDÊNCIA DO ESTÁGIO ATUAL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F"/>
                </a:solidFill>
              </a:rPr>
              <a:t>MVP funcional e demonstrável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984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7716E"/>
                </a:solidFill>
              </a:rPr>
              <a:t>O protótipo já conecta cálculo real, conta demo, histórico, conversas e upload de contratos.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0352" y="1847088"/>
            <a:ext cx="704088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1.3535046848203775e+33" dist="2.707009369640755e+33" dir="7.558272e+39">
              <a:srgbClr val="17211F">
                <a:alpha val="1.1999999999999999e+3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847088"/>
            <a:ext cx="1417320" cy="3950208"/>
          </a:xfrm>
          <a:prstGeom prst="rect">
            <a:avLst/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2139696"/>
            <a:ext cx="1033272" cy="310896"/>
          </a:xfrm>
          <a:prstGeom prst="roundRect">
            <a:avLst>
              <a:gd name="adj" fmla="val 35294"/>
            </a:avLst>
          </a:prstGeom>
          <a:solidFill>
            <a:srgbClr val="D6F36A"/>
          </a:solidFill>
          <a:ln w="12700">
            <a:solidFill>
              <a:srgbClr val="D6F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08276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1F"/>
                </a:solidFill>
              </a:rPr>
              <a:t>+ Nova conversa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C8985"/>
                </a:solidFill>
              </a:rPr>
              <a:t>SUAS CONVERSAS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3232" y="3127248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Proposta PJ 15 mil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3232" y="3611880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691"/>
                </a:solidFill>
              </a:rPr>
              <a:t>Comparação benefícios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3232" y="4096512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691"/>
                </a:solidFill>
              </a:rPr>
              <a:t>Contrato Tech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67712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</a:rPr>
              <a:t>Especialista CLT ou PJ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67712" y="24688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716E"/>
                </a:solidFill>
              </a:rPr>
              <a:t>Simulação de IA • regras 2026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67712" y="2880360"/>
            <a:ext cx="4434840" cy="749808"/>
          </a:xfrm>
          <a:prstGeom prst="roundRect">
            <a:avLst>
              <a:gd name="adj" fmla="val 9756"/>
            </a:avLst>
          </a:prstGeom>
          <a:solidFill>
            <a:srgbClr val="F7F5EF"/>
          </a:solidFill>
          <a:ln w="12700">
            <a:solidFill>
              <a:srgbClr val="E3E7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31272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1F"/>
                </a:solidFill>
              </a:rPr>
              <a:t>Envie seu contrato e pergunte: esta proposta realmente compensa?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80360" y="3913632"/>
            <a:ext cx="3822192" cy="1078992"/>
          </a:xfrm>
          <a:prstGeom prst="roundRect">
            <a:avLst>
              <a:gd name="adj" fmla="val 6780"/>
            </a:avLst>
          </a:prstGeom>
          <a:solidFill>
            <a:srgbClr val="2F8F72"/>
          </a:solidFill>
          <a:ln w="12700">
            <a:solidFill>
              <a:srgbClr val="2F8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7248" y="418795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Contrato PJ: 3 alertas críticos. Exclusividade + horário fixo elevam o risco e exigem prêmio maior.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67712" y="5285232"/>
            <a:ext cx="4434840" cy="310896"/>
          </a:xfrm>
          <a:prstGeom prst="roundRect">
            <a:avLst>
              <a:gd name="adj" fmla="val 23529"/>
            </a:avLst>
          </a:prstGeom>
          <a:solidFill>
            <a:srgbClr val="F3F5F3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5367528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693"/>
                </a:solidFill>
              </a:rPr>
              <a:t>Pergunte sobre CLT, PJ ou uma cláusula...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973568" y="1847088"/>
            <a:ext cx="3566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73568" y="1847088"/>
            <a:ext cx="73152" cy="1024128"/>
          </a:xfrm>
          <a:prstGeom prst="rect">
            <a:avLst/>
          </a:prstGeom>
          <a:solidFill>
            <a:srgbClr val="2F8F72"/>
          </a:solidFill>
          <a:ln w="12700">
            <a:solidFill>
              <a:srgbClr val="2F8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2168" y="2029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1F"/>
                </a:solidFill>
              </a:rPr>
              <a:t>3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8202168" y="24780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7716E"/>
                </a:solidFill>
              </a:rPr>
              <a:t>formatos de contrato: PDF, DOCX, TXT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73568" y="3090672"/>
            <a:ext cx="3566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3090672"/>
            <a:ext cx="73152" cy="1024128"/>
          </a:xfrm>
          <a:prstGeom prst="rect">
            <a:avLst/>
          </a:prstGeom>
          <a:solidFill>
            <a:srgbClr val="3977A8"/>
          </a:solidFill>
          <a:ln w="12700">
            <a:solidFill>
              <a:srgbClr val="39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02168" y="3273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1F"/>
                </a:solidFill>
              </a:rPr>
              <a:t>100%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8202168" y="37216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7716E"/>
                </a:solidFill>
              </a:rPr>
              <a:t>processamento local na demonstração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73568" y="4334256"/>
            <a:ext cx="3566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73568" y="4334256"/>
            <a:ext cx="73152" cy="1024128"/>
          </a:xfrm>
          <a:prstGeom prst="rect">
            <a:avLst/>
          </a:prstGeom>
          <a:solidFill>
            <a:srgbClr val="C46A4A"/>
          </a:solidFill>
          <a:ln w="12700">
            <a:solidFill>
              <a:srgbClr val="C46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2168" y="45171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1F"/>
                </a:solidFill>
              </a:rPr>
              <a:t>2026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8202168" y="49651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7716E"/>
                </a:solidFill>
              </a:rPr>
              <a:t>parâmetros fiscais versionados no motor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F8F72"/>
                </a:solidFill>
              </a:rPr>
              <a:t>DIFERENCIAL TECNOLÓGICO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F"/>
                </a:solidFill>
              </a:rPr>
              <a:t>Explicável por design — não uma resposta opaca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90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67716E"/>
                </a:solidFill>
              </a:rPr>
              <a:t>CAMADA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154680" y="14904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67716E"/>
                </a:solidFill>
              </a:rPr>
              <a:t>COMO FUNCIONA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52360" y="14904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67716E"/>
                </a:solidFill>
              </a:rPr>
              <a:t>VALOR GERADO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" y="1828800"/>
            <a:ext cx="11018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574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F"/>
                </a:solidFill>
              </a:rPr>
              <a:t>Motor financeiro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2048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16E"/>
                </a:solidFill>
              </a:rPr>
              <a:t>Cálculos determinísticos e testáveis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52360" y="20482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8F72"/>
                </a:solidFill>
              </a:rPr>
              <a:t>Evita recomendação sem memória de cálculo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0352" y="2788920"/>
            <a:ext cx="11018520" cy="749808"/>
          </a:xfrm>
          <a:prstGeom prst="roundRect">
            <a:avLst>
              <a:gd name="adj" fmla="val 9756"/>
            </a:avLst>
          </a:prstGeom>
          <a:solidFill>
            <a:srgbClr val="F1F3E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175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F"/>
                </a:solidFill>
              </a:rPr>
              <a:t>Camada conversacional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30083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16E"/>
                </a:solidFill>
              </a:rPr>
              <a:t>Respostas guiadas pelas regras CLT/PJ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52360" y="300837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8F72"/>
                </a:solidFill>
              </a:rPr>
              <a:t>Traduz complexidade em decisão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0352" y="3749040"/>
            <a:ext cx="11018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776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F"/>
                </a:solidFill>
              </a:rPr>
              <a:t>Inteligência documental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39684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16E"/>
                </a:solidFill>
              </a:rPr>
              <a:t>Extração + sinais de risco + evidências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52360" y="396849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8F72"/>
                </a:solidFill>
              </a:rPr>
              <a:t>Conecta a resposta ao contrato real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0352" y="4709160"/>
            <a:ext cx="11018520" cy="749808"/>
          </a:xfrm>
          <a:prstGeom prst="roundRect">
            <a:avLst>
              <a:gd name="adj" fmla="val 9756"/>
            </a:avLst>
          </a:prstGeom>
          <a:solidFill>
            <a:srgbClr val="F1F3E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937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F"/>
                </a:solidFill>
              </a:rPr>
              <a:t>Governança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49286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16E"/>
                </a:solidFill>
              </a:rPr>
              <a:t>Avisos, versionamento e revisão especializada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52360" y="492861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8F72"/>
                </a:solidFill>
              </a:rPr>
              <a:t>Reduz risco regulatório e de confiança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1F"/>
                </a:solidFill>
              </a:rPr>
              <a:t>Próxima evolução tecnológica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80360" y="5742432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53512" y="581101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RAG jurídico-fiscal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5742432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5811012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Fontes oficiais versionadas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37960" y="5742432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5811012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Auditoria de respostas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412480" y="5742432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581101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LGPD by design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F8F72"/>
                </a:solidFill>
              </a:rPr>
              <a:t>MERCADO E MODELO DE NEGÓCIO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F"/>
                </a:solidFill>
              </a:rPr>
              <a:t>Começamos pelo usuário; escalamos via empresas e parceiros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572768"/>
            <a:ext cx="34015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1.7189509497218795e+37" dist="3.437901899443759e+37" dir="4.5349632000000006e+44">
              <a:srgbClr val="17211F">
                <a:alpha val="1.1999999999999999e+4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28800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D6F36A"/>
          </a:solidFill>
          <a:ln w="12700">
            <a:solidFill>
              <a:srgbClr val="D6F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97380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1F"/>
                </a:solidFill>
              </a:rPr>
              <a:t>B2C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" y="24048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Profissionais em transição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Freemium + assinatura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R$ 29–59/mês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572768"/>
            <a:ext cx="34015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2.183067706146787e+41" dist="4.366135412293574e+41" dir="2.72097792e+49">
              <a:srgbClr val="17211F">
                <a:alpha val="1.2e+4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28800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2F8F72"/>
          </a:solidFill>
          <a:ln w="12700">
            <a:solidFill>
              <a:srgbClr val="2F8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897380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B2B2C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99432" y="24048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Recrutamento e benefícios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9432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Licença por colaborador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ou análise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6448" y="1572768"/>
            <a:ext cx="34015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2.7724959868064195e+45" dist="5.544991973612839e+45" dir="1.6325867520000003e+54">
              <a:srgbClr val="17211F">
                <a:alpha val="1.2e+5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828800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3977A8"/>
          </a:solidFill>
          <a:ln w="12700">
            <a:solidFill>
              <a:srgbClr val="39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1897380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Parcerias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0" y="24048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Contabilidades e jurídico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Indicação, white-label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e receita compartilhada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1F"/>
                </a:solidFill>
              </a:rPr>
              <a:t>Hipótese de escala em 36 meses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0352" y="4736592"/>
            <a:ext cx="3291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736592"/>
            <a:ext cx="73152" cy="1024128"/>
          </a:xfrm>
          <a:prstGeom prst="rect">
            <a:avLst/>
          </a:prstGeom>
          <a:solidFill>
            <a:srgbClr val="2F8F72"/>
          </a:solidFill>
          <a:ln w="12700">
            <a:solidFill>
              <a:srgbClr val="2F8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49194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1F"/>
                </a:solidFill>
              </a:rPr>
              <a:t>10 mil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58952" y="5367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7716E"/>
                </a:solidFill>
              </a:rPr>
              <a:t>assinantes pagantes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50792" y="4736592"/>
            <a:ext cx="3291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50792" y="4736592"/>
            <a:ext cx="73152" cy="1024128"/>
          </a:xfrm>
          <a:prstGeom prst="rect">
            <a:avLst/>
          </a:prstGeom>
          <a:solidFill>
            <a:srgbClr val="3977A8"/>
          </a:solidFill>
          <a:ln w="12700">
            <a:solidFill>
              <a:srgbClr val="3977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49194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1F"/>
                </a:solidFill>
              </a:rPr>
              <a:t>R$ 39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4279392" y="5367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7716E"/>
                </a:solidFill>
              </a:rPr>
              <a:t>ticket médio mensal B2C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71232" y="4736592"/>
            <a:ext cx="39776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71232" y="4736592"/>
            <a:ext cx="73152" cy="1024128"/>
          </a:xfrm>
          <a:prstGeom prst="rect">
            <a:avLst/>
          </a:prstGeom>
          <a:solidFill>
            <a:srgbClr val="C46A4A"/>
          </a:solidFill>
          <a:ln w="12700">
            <a:solidFill>
              <a:srgbClr val="C46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9832" y="49194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1F"/>
                </a:solidFill>
              </a:rPr>
              <a:t>R$ 4,7 mi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799832" y="53675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7716E"/>
                </a:solidFill>
              </a:rPr>
              <a:t>receita recorrente anual potencial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593445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7716E"/>
                </a:solidFill>
              </a:rPr>
              <a:t>Estimativas bottom-up para validação; não representam tração atual.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F8F72"/>
                </a:solidFill>
              </a:rPr>
              <a:t>IMPACTO SOCIOAMBIENTAL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F"/>
                </a:solidFill>
              </a:rPr>
              <a:t>Mais autonomia econômica e relações de trabalho mais transparentes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572768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3.5210699032441527e+49" dist="7.042139806488305e+49" dir="9.795520512000002e+58">
              <a:srgbClr val="17211F">
                <a:alpha val="1.2e+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475488" cy="475488"/>
          </a:xfrm>
          <a:prstGeom prst="ellipse">
            <a:avLst/>
          </a:prstGeom>
          <a:solidFill>
            <a:srgbClr val="D6F36A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391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11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90472" y="18653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1F"/>
                </a:solidFill>
              </a:rPr>
              <a:t>Decisão financeira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234086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16E"/>
                </a:solidFill>
              </a:rPr>
              <a:t>Reduz assimetria de informação em momentos de alto impacto na renda.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08192" y="1572768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4.471758777120074e+53" dist="8.943517554240149e+53" dir="5.877312307200001e+63">
              <a:srgbClr val="17211F">
                <a:alpha val="1.2000000000000001e+6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920240"/>
            <a:ext cx="475488" cy="475488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20391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68312" y="18653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1F"/>
                </a:solidFill>
              </a:rPr>
              <a:t>Prevenção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68312" y="234086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16E"/>
                </a:solidFill>
              </a:rPr>
              <a:t>Ajuda a identificar cláusulas desequilibradas antes da assinatura.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0352" y="3730752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5.679133646942494e+57" dist="1.1358267293884988e+58" dir="3.526387384320001e+68">
              <a:srgbClr val="17211F">
                <a:alpha val="1.2e+6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078224"/>
            <a:ext cx="475488" cy="475488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1970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90472" y="4023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1F"/>
                </a:solidFill>
              </a:rPr>
              <a:t>Inclusão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90472" y="449884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16E"/>
                </a:solidFill>
              </a:rPr>
              <a:t>Transforma linguagem fiscal e jurídica em explicações acessíveis.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08192" y="3730752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  <a:effectLst>
            <a:outerShdw sx="100000" sy="100000" kx="0" ky="0" algn="bl" rotWithShape="0" blurRad="7.212499731616968e+61" dist="1.4424999463233936e+62" dir="2.1158324305920003e+73">
              <a:srgbClr val="17211F">
                <a:alpha val="1.2e+7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4078224"/>
            <a:ext cx="475488" cy="475488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41970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68312" y="4023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1F"/>
                </a:solidFill>
              </a:rPr>
              <a:t>Formalização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68312" y="449884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16E"/>
                </a:solidFill>
              </a:rPr>
              <a:t>Orienta reservas, impostos e gestão responsável para quem atua como PJ.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0352" y="5779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1F"/>
                </a:solidFill>
              </a:rPr>
              <a:t>Indicadores que serão medidos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5705856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577443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decisões apoiadas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15968" y="5705856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577443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renda protegida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06440" y="5705856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9592" y="577443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cláusulas renegociadas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26680" y="5705856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9832" y="577443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NPS e confiança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17152" y="5705856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90304" y="577443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parcerias locais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F8F72"/>
                </a:solidFill>
              </a:rPr>
              <a:t>CRONOGRAMA FÍSICO E ORÇAMENTO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F"/>
                </a:solidFill>
              </a:rPr>
              <a:t>12 meses para sair do protótipo e provar o negócio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" y="1874520"/>
            <a:ext cx="2514600" cy="0"/>
          </a:xfrm>
          <a:prstGeom prst="line">
            <a:avLst/>
          </a:prstGeom>
          <a:noFill/>
          <a:ln w="25400">
            <a:solidFill>
              <a:srgbClr val="BFC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618488"/>
            <a:ext cx="530352" cy="530352"/>
          </a:xfrm>
          <a:prstGeom prst="ellipse">
            <a:avLst/>
          </a:prstGeom>
          <a:solidFill>
            <a:srgbClr val="D6F36A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556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11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2377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F72"/>
                </a:solidFill>
              </a:rPr>
              <a:t>M1–M3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26883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Validar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" y="318211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16E"/>
                </a:solidFill>
              </a:rPr>
              <a:t>50 entrevistas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7716E"/>
                </a:solidFill>
              </a:rPr>
              <a:t>20 testes assistidos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1874520"/>
            <a:ext cx="2514600" cy="0"/>
          </a:xfrm>
          <a:prstGeom prst="line">
            <a:avLst/>
          </a:prstGeom>
          <a:noFill/>
          <a:ln w="25400">
            <a:solidFill>
              <a:srgbClr val="BFC8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618488"/>
            <a:ext cx="530352" cy="530352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556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F72"/>
                </a:solidFill>
              </a:rPr>
              <a:t>M4–M6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6883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Construir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318211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16E"/>
                </a:solidFill>
              </a:rPr>
              <a:t>IA com fontes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7716E"/>
                </a:solidFill>
              </a:rPr>
              <a:t>segurança e LGPD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56248" y="1874520"/>
            <a:ext cx="2514600" cy="0"/>
          </a:xfrm>
          <a:prstGeom prst="line">
            <a:avLst/>
          </a:prstGeom>
          <a:noFill/>
          <a:ln w="25400">
            <a:solidFill>
              <a:srgbClr val="BFC8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618488"/>
            <a:ext cx="530352" cy="530352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7556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2377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F72"/>
                </a:solidFill>
              </a:rPr>
              <a:t>M7–M9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36208" y="26883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Pilotar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36208" y="318211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16E"/>
                </a:solidFill>
              </a:rPr>
              <a:t>3 parceiros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7716E"/>
                </a:solidFill>
              </a:rPr>
              <a:t>500 usuários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09176" y="1874520"/>
            <a:ext cx="2514600" cy="0"/>
          </a:xfrm>
          <a:prstGeom prst="line">
            <a:avLst/>
          </a:prstGeom>
          <a:noFill/>
          <a:ln w="25400">
            <a:solidFill>
              <a:srgbClr val="F7F5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9136" y="1618488"/>
            <a:ext cx="530352" cy="530352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89136" y="17556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89136" y="2377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F72"/>
                </a:solidFill>
              </a:rPr>
              <a:t>M10–M12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89136" y="26883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Escalar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89136" y="318211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16E"/>
                </a:solidFill>
              </a:rPr>
              <a:t>pagamento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7716E"/>
                </a:solidFill>
              </a:rPr>
              <a:t>métricas e vendas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4224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F"/>
                </a:solidFill>
              </a:rPr>
              <a:t>Aplicação proposta da subvenção de até R$ 96 mil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30352" y="4773168"/>
            <a:ext cx="4627778" cy="457200"/>
          </a:xfrm>
          <a:prstGeom prst="rect">
            <a:avLst/>
          </a:prstGeom>
          <a:solidFill>
            <a:srgbClr val="2F8F72"/>
          </a:solidFill>
          <a:ln w="12700">
            <a:solidFill>
              <a:srgbClr val="2F8F7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58130" y="4773168"/>
            <a:ext cx="2203704" cy="457200"/>
          </a:xfrm>
          <a:prstGeom prst="rect">
            <a:avLst/>
          </a:prstGeom>
          <a:solidFill>
            <a:srgbClr val="3977A8"/>
          </a:solidFill>
          <a:ln w="12700">
            <a:solidFill>
              <a:srgbClr val="3977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1834" y="4773168"/>
            <a:ext cx="1983334" cy="457200"/>
          </a:xfrm>
          <a:prstGeom prst="rect">
            <a:avLst/>
          </a:prstGeom>
          <a:solidFill>
            <a:srgbClr val="C46A4A"/>
          </a:solidFill>
          <a:ln w="12700">
            <a:solidFill>
              <a:srgbClr val="C46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45168" y="4773168"/>
            <a:ext cx="2203704" cy="457200"/>
          </a:xfrm>
          <a:prstGeom prst="rect">
            <a:avLst/>
          </a:prstGeom>
          <a:solidFill>
            <a:srgbClr val="D89B2B"/>
          </a:solidFill>
          <a:ln w="12700">
            <a:solidFill>
              <a:srgbClr val="D89B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5513832"/>
            <a:ext cx="118872" cy="118872"/>
          </a:xfrm>
          <a:prstGeom prst="ellipse">
            <a:avLst/>
          </a:prstGeom>
          <a:solidFill>
            <a:srgbClr val="2F8F72"/>
          </a:solidFill>
          <a:ln w="12700">
            <a:solidFill>
              <a:srgbClr val="2F8F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" y="548640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716E"/>
                </a:solidFill>
              </a:rPr>
              <a:t>42% Desenvolvimento e IA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62472" y="5513832"/>
            <a:ext cx="118872" cy="118872"/>
          </a:xfrm>
          <a:prstGeom prst="ellipse">
            <a:avLst/>
          </a:prstGeom>
          <a:solidFill>
            <a:srgbClr val="3977A8"/>
          </a:solidFill>
          <a:ln w="12700">
            <a:solidFill>
              <a:srgbClr val="3977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548640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716E"/>
                </a:solidFill>
              </a:rPr>
              <a:t>20% Especialistas jurídico/fiscal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0352" y="5879592"/>
            <a:ext cx="118872" cy="118872"/>
          </a:xfrm>
          <a:prstGeom prst="ellipse">
            <a:avLst/>
          </a:prstGeom>
          <a:solidFill>
            <a:srgbClr val="C46A4A"/>
          </a:solidFill>
          <a:ln w="12700">
            <a:solidFill>
              <a:srgbClr val="C46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" y="58521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716E"/>
                </a:solidFill>
              </a:rPr>
              <a:t>18% Segurança, LGPD e infraestrutura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62472" y="5879592"/>
            <a:ext cx="118872" cy="118872"/>
          </a:xfrm>
          <a:prstGeom prst="ellipse">
            <a:avLst/>
          </a:prstGeom>
          <a:solidFill>
            <a:srgbClr val="D89B2B"/>
          </a:solidFill>
          <a:ln w="12700">
            <a:solidFill>
              <a:srgbClr val="D89B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58521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716E"/>
                </a:solidFill>
              </a:rPr>
              <a:t>20% Pesquisa, pilotos e go-to-market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F8F72"/>
                </a:solidFill>
              </a:rPr>
              <a:t>EQUIPE EXECUTORA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F"/>
                </a:solidFill>
              </a:rPr>
              <a:t>Tecnologia construída; especialização será incorporada ao projeto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536192"/>
            <a:ext cx="3794760" cy="4297680"/>
          </a:xfrm>
          <a:prstGeom prst="roundRect">
            <a:avLst>
              <a:gd name="adj" fmla="val 1928"/>
            </a:avLst>
          </a:prstGeom>
          <a:solidFill>
            <a:srgbClr val="17211F"/>
          </a:solidFill>
          <a:ln w="12700">
            <a:solidFill>
              <a:srgbClr val="17211F"/>
            </a:solidFill>
            <a:prstDash val="solid"/>
          </a:ln>
          <a:effectLst>
            <a:outerShdw sx="100000" sy="100000" kx="0" ky="0" algn="bl" rotWithShape="0" blurRad="9.15987465915355e+65" dist="1.83197493183071e+66" dir="1.2694994583552002e+78">
              <a:srgbClr val="17211F">
                <a:alpha val="1.2000000000000001e+7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841248" cy="841248"/>
          </a:xfrm>
          <a:prstGeom prst="ellipse">
            <a:avLst/>
          </a:prstGeom>
          <a:solidFill>
            <a:srgbClr val="D6F36A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7627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Arthur Maciel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5295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6F36A"/>
                </a:solidFill>
              </a:rPr>
              <a:t>Proponente • Produto e Tecnologia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8D0CD"/>
                </a:solidFill>
              </a:rPr>
              <a:t>Responsável pelo MVP full-stack, motor de cálculo, experiência do usuário e execução técnica.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2852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79590"/>
                </a:solidFill>
              </a:rPr>
              <a:t>Dados da equipe devem ser ajustados antes da submissão.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0060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Competências a incorporar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00600" y="2148840"/>
            <a:ext cx="67482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47488" y="2404872"/>
            <a:ext cx="347472" cy="347472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24780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96128" y="231343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</a:rPr>
              <a:t>Jurídico trabalhista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35240" y="22951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7716E"/>
                </a:solidFill>
              </a:rPr>
              <a:t>Curadoria de cláusulas, limites e protocolos de encaminhamento.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291840"/>
            <a:ext cx="67482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47488" y="3547872"/>
            <a:ext cx="347472" cy="347472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36210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96128" y="345643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</a:rPr>
              <a:t>Contabilidade e tributos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35240" y="34381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7716E"/>
                </a:solidFill>
              </a:rPr>
              <a:t>Validação periódica dos parâmetros, regimes e cenários.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4434840"/>
            <a:ext cx="67482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FE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7488" y="4690872"/>
            <a:ext cx="347472" cy="347472"/>
          </a:xfrm>
          <a:prstGeom prst="ellipse">
            <a:avLst/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640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96128" y="459943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</a:rPr>
              <a:t>Mercado e parcerias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35240" y="45811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7716E"/>
                </a:solidFill>
              </a:rPr>
              <a:t>Pilotos com RH, contabilidades e comunidades profissionais.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5715000"/>
            <a:ext cx="2468880" cy="310896"/>
          </a:xfrm>
          <a:prstGeom prst="roundRect">
            <a:avLst>
              <a:gd name="adj" fmla="val 35294"/>
            </a:avLst>
          </a:prstGeom>
          <a:solidFill>
            <a:srgbClr val="D6F36A"/>
          </a:solidFill>
          <a:ln w="12700">
            <a:solidFill>
              <a:srgbClr val="D6F3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5783580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1F"/>
                </a:solidFill>
              </a:rPr>
              <a:t>Até 5 integrantes na equipe executora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F36A"/>
          </a:solidFill>
          <a:ln w="12700">
            <a:solidFill>
              <a:srgbClr val="D6F3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6583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O que queremos validar com o Centelha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1673352"/>
            <a:ext cx="118872" cy="118872"/>
          </a:xfrm>
          <a:prstGeom prst="ellipse">
            <a:avLst/>
          </a:prstGeom>
          <a:solidFill>
            <a:srgbClr val="2F8F72"/>
          </a:solidFill>
          <a:ln w="12700">
            <a:solidFill>
              <a:srgbClr val="2F8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600200"/>
            <a:ext cx="6373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Pessoas pagam por uma recomendação explicável antes de aceitar uma proposta.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432304"/>
            <a:ext cx="118872" cy="118872"/>
          </a:xfrm>
          <a:prstGeom prst="ellipse">
            <a:avLst/>
          </a:prstGeom>
          <a:solidFill>
            <a:srgbClr val="2F8F72"/>
          </a:solidFill>
          <a:ln w="12700">
            <a:solidFill>
              <a:srgbClr val="2F8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359152"/>
            <a:ext cx="6373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Análise de contrato aumenta confiança, recorrência e valor percebido.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191256"/>
            <a:ext cx="118872" cy="118872"/>
          </a:xfrm>
          <a:prstGeom prst="ellipse">
            <a:avLst/>
          </a:prstGeom>
          <a:solidFill>
            <a:srgbClr val="2F8F72"/>
          </a:solidFill>
          <a:ln w="12700">
            <a:solidFill>
              <a:srgbClr val="2F8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118104"/>
            <a:ext cx="6373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RHs, contabilidades e comunidades são canais eficientes de aquisição.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950208"/>
            <a:ext cx="118872" cy="118872"/>
          </a:xfrm>
          <a:prstGeom prst="ellipse">
            <a:avLst/>
          </a:prstGeom>
          <a:solidFill>
            <a:srgbClr val="2F8F72"/>
          </a:solidFill>
          <a:ln w="12700">
            <a:solidFill>
              <a:srgbClr val="2F8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3877056"/>
            <a:ext cx="6373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Governança e especialistas tornam a solução segura e escalável.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09560" y="960120"/>
            <a:ext cx="3493008" cy="4526280"/>
          </a:xfrm>
          <a:prstGeom prst="roundRect">
            <a:avLst>
              <a:gd name="adj" fmla="val 2094"/>
            </a:avLst>
          </a:prstGeom>
          <a:solidFill>
            <a:srgbClr val="22312E"/>
          </a:solidFill>
          <a:ln w="12700">
            <a:solidFill>
              <a:srgbClr val="3A4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B2AE"/>
                </a:solidFill>
              </a:rPr>
              <a:t>Recursos solicitados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173736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6F36A"/>
                </a:solidFill>
              </a:rPr>
              <a:t>até R$ 96 mil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29600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+ até R$ 50 mil em bolsas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2971800"/>
            <a:ext cx="2788920" cy="0"/>
          </a:xfrm>
          <a:prstGeom prst="line">
            <a:avLst/>
          </a:prstGeom>
          <a:noFill/>
          <a:ln w="12700">
            <a:solidFill>
              <a:srgbClr val="4656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3101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B2AE"/>
                </a:solidFill>
              </a:rPr>
              <a:t>Objetivo em 12 meses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37490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Produto validado,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500 usuários 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 pilotos parceiros.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" y="5833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F36A"/>
                </a:solidFill>
              </a:rPr>
              <a:t>CLT ou PJ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68880" y="5843016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7B2AE"/>
                </a:solidFill>
              </a:rPr>
              <a:t>Transformando uma decisão confusa em uma escolha consciente.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F8F72"/>
                </a:solidFill>
              </a:rPr>
              <a:t>APÊNDICE • PROGRAMA CENTELHA 3 PARANÁ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F"/>
                </a:solidFill>
              </a:rPr>
              <a:t>Como o pitch responde aos critérios do edital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417320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17211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184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Solução (peso 2 na Fase 1)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15968" y="1572768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Combinação inovadora de cálculo, conversa e análise documental.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2313432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51460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Mercado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15968" y="2468880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Dor recorrente, modelo B2C e expansão B2B2C com canais parceiros.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3209544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4107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Impacto socioambiental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15968" y="3364992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Autonomia econômica, prevenção e acesso à informação.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" y="4105656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2F8F72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30682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Equipe executora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15968" y="4261104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MVP técnico existente e plano explícito para incorporar especialistas.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5001768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17211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0293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Consistência da proposta (peso 2 na Fase 2)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15968" y="5157216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16E"/>
                </a:solidFill>
              </a:rPr>
              <a:t>Cronograma de 12 meses, orçamento e metas de validação.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5833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1F"/>
                </a:solidFill>
              </a:rPr>
              <a:t>Marcos do edital consultado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5806440"/>
            <a:ext cx="8732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8F72"/>
                </a:solidFill>
              </a:rPr>
              <a:t>Fase 1 até 22/06/2026 • até 48 projetos • até R$ 96 mil de subvenção + até R$ 50 mil em bolsas • execução de 12 meses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61996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716E"/>
                </a:solidFill>
              </a:rPr>
              <a:t>Fonte: Edital 14/2026 — Programa Centelha 3 Paraná, Fundação Araucária, publicado em 22/05/2026.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CLT ou PJ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CLT ou PJ — Inteligência para decisões de trabalho</dc:title>
  <dc:subject>Pitch alinhado ao Programa Centelha 3 Paraná</dc:subject>
  <dc:creator>CLT ou PJ</dc:creator>
  <cp:lastModifiedBy>CLT ou PJ</cp:lastModifiedBy>
  <cp:revision>1</cp:revision>
  <dcterms:created xsi:type="dcterms:W3CDTF">2026-06-19T00:54:02Z</dcterms:created>
  <dcterms:modified xsi:type="dcterms:W3CDTF">2026-06-19T00:54:02Z</dcterms:modified>
</cp:coreProperties>
</file>